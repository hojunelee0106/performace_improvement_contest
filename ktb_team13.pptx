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0E76BF-F431-450C-B9BF-8D5B4508A657}">
  <a:tblStyle styleId="{370E76BF-F431-450C-B9BF-8D5B4508A6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13팀 결과기 발표입니다. 저희 개선의 핵심 한 줄은 '검색과 프롬프트보다 데이터 정합성이 점수를 지배했다'는 것입니다.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요강상 속도에는 배점이 없습니다. 그래서 120초 예산 중 21초만 쓰고 나머지를 품질에 투자하는 방향을 처음부터 정했습니다.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파이프라인 전체입니다. 4번 항 라벨링이 후반부에 가장 크게 기여한 선택이고, 뒤에서 따로 설명합니다.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검색 실험 두 개입니다. 핵심은 Kiwi가 MRR 1.0으로 더 좋았는데도 의존성 0인 bigram을 골랐다는 점입니다. 재현성이 깨지면 점수가 0이기 때문입니다.</a:t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 슬라이드가 저희 발표의 핵심입니다. 결론이 반대로 나오는 실패를 프롬프트 문제로 오진해서 여러 회차를 낭비했고, 원인은 전부 PDF 파싱 단계에 있었습니다.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모델은 T4 제약이 사실상 선택지를 결정했습니다. 그리고 중국어 누출은 프롬프트로 두 번 실패하고 디코딩 단에서 잡았습니다.</a:t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청킹 전략을 바꾼 게 아니라, 이미 찾아낸 조항을 모델이 읽기 쉽게 보여준 것입니다. 검색 계약은 그대로 두고 프롬프트 문자열만 바꿨습니다.</a:t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가장 크게 실패한 실험입니다. 키팩트 재현율은 4%p 가까이 올랐는데 최종 판정은 떨어졌습니다. 이 경험 이후 판단 기준 자체를 바꿨습니다.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검색은 만점이라 더 얻을 게 없고, 실점이 30점 배점인 키팩트 F1에 몰려 있습니다. 자체 30문항에서는 가부 유형이 38%로 압도적 최저였습니다.</a:t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마무리입니다. 이번 대회에서 코드보다 오래 남을 건 이 네 가지 운영 원칙이라고 생각합니다.</a:t>
            </a:r>
            <a:endParaRPr/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1417320"/>
            <a:ext cx="2788920" cy="384048"/>
          </a:xfrm>
          <a:prstGeom prst="roundRect">
            <a:avLst>
              <a:gd fmla="val 23810" name="adj"/>
            </a:avLst>
          </a:prstGeom>
          <a:solidFill>
            <a:srgbClr val="DB6E30"/>
          </a:solidFill>
          <a:ln cap="flat" cmpd="sng" w="9525">
            <a:solidFill>
              <a:srgbClr val="DB6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1417320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성능 개선 대회 · 13팀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205740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카카오 약관 QA 결과기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75" y="3543011"/>
            <a:ext cx="37596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hector.lee(이호준)</a:t>
            </a:r>
            <a:b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tom.kim(김현수)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01  개선 목표와 접근 방향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속도가 아니라 근거 정확도에 예산을 쓴다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2788920"/>
            <a:ext cx="3383400" cy="1783200"/>
          </a:xfrm>
          <a:prstGeom prst="roundRect">
            <a:avLst>
              <a:gd fmla="val 461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96112" y="3017520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16202E"/>
          </a:solidFill>
          <a:ln cap="flat" cmpd="sng" w="9525">
            <a:solidFill>
              <a:srgbClr val="162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96112" y="3017520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325880" y="3017520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데이터 정합성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96112" y="34930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조 단위 파싱이 틀리면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뒤 단계 개선이 전부 무의미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297680" y="2788920"/>
            <a:ext cx="3383400" cy="1783200"/>
          </a:xfrm>
          <a:prstGeom prst="roundRect">
            <a:avLst>
              <a:gd fmla="val 461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53712" y="3017520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53712" y="3017520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983480" y="3017520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검색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53712" y="34930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채점 단위와 검색 단위를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[문서명, 조번호]로 일치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955280" y="2788920"/>
            <a:ext cx="3383400" cy="1783200"/>
          </a:xfrm>
          <a:prstGeom prst="roundRect">
            <a:avLst>
              <a:gd fmla="val 461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11312" y="3017520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62748C"/>
          </a:solidFill>
          <a:ln cap="flat" cmpd="sng" w="9525">
            <a:solidFill>
              <a:srgbClr val="627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211312" y="3017520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641080" y="3017520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생성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211312" y="34930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주어진 조항에서 사실을 뽑아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정리하는 작업으로 한정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" y="4828032"/>
            <a:ext cx="10881300" cy="1188600"/>
          </a:xfrm>
          <a:prstGeom prst="roundRect">
            <a:avLst>
              <a:gd fmla="val 6923" name="adj"/>
            </a:avLst>
          </a:prstGeom>
          <a:solidFill>
            <a:srgbClr val="16202E"/>
          </a:solidFill>
          <a:ln cap="flat" cmpd="sng" w="9525">
            <a:solidFill>
              <a:srgbClr val="1620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60120" y="50292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문항당 예산 120초 · 실측 p95 21.1초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60120" y="5431536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남는 시간 예산을 답변 길이·모델 크기 등 품질 쪽으로 돌리는 것이 배점상 유리하다고 판단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02  기술적 선택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다섯 단계, 각각의 선택 이유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40080" y="1517904"/>
            <a:ext cx="10881360" cy="804672"/>
          </a:xfrm>
          <a:prstGeom prst="roundRect">
            <a:avLst>
              <a:gd fmla="val 10227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77824" y="1764792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77824" y="17647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353312" y="1572768"/>
            <a:ext cx="1691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약관 원문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108960" y="1572768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조 단위 JSON을 gzip+base64로 셀에 임베드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7178040" y="1572768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Drive·업로드 금지 + 런타임 다운로드는 전량 실패 위험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2459736"/>
            <a:ext cx="10881360" cy="804672"/>
          </a:xfrm>
          <a:prstGeom prst="roundRect">
            <a:avLst>
              <a:gd fmla="val 10227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77824" y="2706624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77824" y="27066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353312" y="2514600"/>
            <a:ext cx="1691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색인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108960" y="2514600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자체 BM25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178040" y="2514600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의존성 0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40080" y="3401568"/>
            <a:ext cx="10881360" cy="804672"/>
          </a:xfrm>
          <a:prstGeom prst="roundRect">
            <a:avLst>
              <a:gd fmla="val 10227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77824" y="3648456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77824" y="36484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353312" y="3456432"/>
            <a:ext cx="1691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근거 선별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108960" y="3456432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1위 점수 대비 상대 비율 + 약관명 하드 필터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178040" y="345643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문서 간 near-duplicate 20쌍을 텍스트만으로 못 가름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40080" y="4343400"/>
            <a:ext cx="10881360" cy="804672"/>
          </a:xfrm>
          <a:prstGeom prst="roundRect">
            <a:avLst>
              <a:gd fmla="val 10227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77824" y="4590288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DB6E30"/>
          </a:solidFill>
          <a:ln cap="flat" cmpd="sng" w="9525">
            <a:solidFill>
              <a:srgbClr val="DB6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77824" y="459028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353312" y="4398264"/>
            <a:ext cx="1691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컨텍스트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108960" y="4398264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조 본문에 [제N조 제①항] 라벨 삽입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178040" y="439826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검색 단위(조)와 근거 제시 단위(항)를 분리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0080" y="5285232"/>
            <a:ext cx="10881360" cy="804672"/>
          </a:xfrm>
          <a:prstGeom prst="roundRect">
            <a:avLst>
              <a:gd fmla="val 10227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77824" y="553212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77824" y="55321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353312" y="5340096"/>
            <a:ext cx="1691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생성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108960" y="5340096"/>
            <a:ext cx="39776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Qwen2.5-7B-Instruct 4bit · greedy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178040" y="5340096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T4 16GB·fp16 제약 안에서 지시 이행력 확보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03  실험 설계와 근거 · 검색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더 좋은 점수 대신 재현성을 골랐다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0080" y="2569204"/>
            <a:ext cx="5349300" cy="2331600"/>
          </a:xfrm>
          <a:prstGeom prst="roundRect">
            <a:avLst>
              <a:gd fmla="val 3529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14400" y="2715508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실험 A — 토크나이저 3종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6"/>
          <p:cNvGraphicFramePr/>
          <p:nvPr/>
        </p:nvGraphicFramePr>
        <p:xfrm>
          <a:off x="914400" y="31361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{370E76BF-F431-450C-B9BF-8D5B4508A657}</a:tableStyleId>
              </a:tblPr>
              <a:tblGrid>
                <a:gridCol w="1874525"/>
                <a:gridCol w="1051550"/>
                <a:gridCol w="914400"/>
                <a:gridCol w="9601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토크나이저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의존성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공백 분리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없음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B6E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B6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문자 bigram  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없음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Kiwi 형태소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kiwipiepy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6"/>
          <p:cNvSpPr/>
          <p:nvPr/>
        </p:nvSpPr>
        <p:spPr>
          <a:xfrm>
            <a:off x="914400" y="4480300"/>
            <a:ext cx="480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MRR 0.05 차이가 한 문항에서만 나옴. 이 표본으로 Kiwi를 고르면 과적합이고, pip 실패 시 결과기 전체가 죽는다.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172200" y="2569204"/>
            <a:ext cx="5349300" cy="2331600"/>
          </a:xfrm>
          <a:prstGeom prst="roundRect">
            <a:avLst>
              <a:gd fmla="val 3529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46520" y="2715508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실험 B — 근거 선별 임계값 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6"/>
          <p:cNvGraphicFramePr/>
          <p:nvPr/>
        </p:nvGraphicFramePr>
        <p:xfrm>
          <a:off x="6446520" y="31361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{370E76BF-F431-450C-B9BF-8D5B4508A657}</a:tableStyleId>
              </a:tblPr>
              <a:tblGrid>
                <a:gridCol w="1600200"/>
                <a:gridCol w="1737350"/>
                <a:gridCol w="14630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τ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평균 근거 수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48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274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정답 유실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없음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없음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4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434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없음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6"/>
          <p:cNvSpPr/>
          <p:nvPr/>
        </p:nvSpPr>
        <p:spPr>
          <a:xfrm>
            <a:off x="6446520" y="4452868"/>
            <a:ext cx="480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0.30~0.75 전 구간에서 정답 유실 0 — 공개 10문항으로는 튜닝 근거가 사실상 없다는 뜻. 비공개 문항의 2~3위 정답을 지키는 쪽으로 보수적 설정.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04  가장 크게 배운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P08·P09는 프롬프트가 아니라 데이터 문제였다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0080" y="1517904"/>
            <a:ext cx="5349240" cy="1664208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14400" y="1664208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법률 상호참조를 조 헤더로 오인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14400" y="2020824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"위치정보법 제26조2항"이 헤더로 잡혀 제12조가 96자에서 잘림.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914400" y="268833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수정  </a:t>
            </a:r>
            <a:r>
              <a:rPr b="0" i="0" lang="en-US" sz="11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줄 맨 앞에서 시작하는 헤더만 인정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172200" y="1517904"/>
            <a:ext cx="5349240" cy="1664208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446520" y="1664208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목차</a:t>
            </a:r>
            <a:r>
              <a:rPr b="1" lang="en-US" sz="1500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 문제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446520" y="2020824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목차 조각(193자)이 실제 제3조 본문(182자)을 이김. 검색 순위 72위 중 72위.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46520" y="268833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수정  </a:t>
            </a:r>
            <a:r>
              <a:rPr b="0" i="0" lang="en-US" sz="11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길이 대신 '남의 조 헤더를 몇 개 무는가'로 판정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40080" y="3392424"/>
            <a:ext cx="5349240" cy="1664208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14400" y="3538728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-raw 추출의 공백 소실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914400" y="3895344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통합 약관 4·8·10·11조 공백 증발("시한게시물"). 제10조는 P09 정답 조항.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14400" y="456285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수정  </a:t>
            </a:r>
            <a:r>
              <a:rPr b="0" i="0" lang="en-US" sz="11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통합 약관만 -layout 으로 추출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172200" y="3392424"/>
            <a:ext cx="5349240" cy="1664208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46520" y="3538728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-layout 의 2차 부작용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46520" y="3895344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1·3·9·10조 따옴표가 자리 밖으로 밀림: 등(이하 세부지침 ) ' ' 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46520" y="456285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수정  </a:t>
            </a:r>
            <a:r>
              <a:rPr b="0" i="0" lang="en-US" sz="11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고아 따옴표 제거 + (이하 X) 재감싸기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80" y="5321808"/>
            <a:ext cx="10881360" cy="841248"/>
          </a:xfrm>
          <a:prstGeom prst="roundRect">
            <a:avLst>
              <a:gd fmla="val 9783" name="adj"/>
            </a:avLst>
          </a:prstGeom>
          <a:solidFill>
            <a:srgbClr val="16202E"/>
          </a:solidFill>
          <a:ln cap="flat" cmpd="sng" w="9525">
            <a:solidFill>
              <a:srgbClr val="1620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60120" y="5449824"/>
            <a:ext cx="102412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결론이 반대로 나오는 실패는 프롬프트가 아니라 데이터를 의심한다.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05  기술적 선택 · 생성 모델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3B에서 7B 4bit로, 규정 제약 안에서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" y="1517904"/>
            <a:ext cx="5806440" cy="2926080"/>
          </a:xfrm>
          <a:prstGeom prst="roundRect">
            <a:avLst>
              <a:gd fmla="val 2813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14400" y="166420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양자화 구성 4종 시도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932688" y="2167128"/>
            <a:ext cx="118872" cy="118872"/>
          </a:xfrm>
          <a:prstGeom prst="ellipse">
            <a:avLst/>
          </a:prstGeom>
          <a:solidFill>
            <a:srgbClr val="B23A48"/>
          </a:solidFill>
          <a:ln cap="flat" cmpd="sng" w="9525">
            <a:solidFill>
              <a:srgbClr val="B23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188720" y="206654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GPTQ-Int4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429000" y="206654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gptqmodel 의존성 누락으로 실패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932688" y="2624328"/>
            <a:ext cx="118872" cy="118872"/>
          </a:xfrm>
          <a:prstGeom prst="ellipse">
            <a:avLst/>
          </a:prstGeom>
          <a:solidFill>
            <a:srgbClr val="62748C"/>
          </a:solidFill>
          <a:ln cap="flat" cmpd="sng" w="9525">
            <a:solidFill>
              <a:srgbClr val="627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188720" y="252374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unsloth bnb-4bit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429000" y="252374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로드는 되나 채택 안 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32688" y="3081528"/>
            <a:ext cx="118872" cy="118872"/>
          </a:xfrm>
          <a:prstGeom prst="ellipse">
            <a:avLst/>
          </a:prstGeom>
          <a:solidFill>
            <a:srgbClr val="2C7A5B"/>
          </a:solidFill>
          <a:ln cap="flat" cmpd="sng" w="9525">
            <a:solidFill>
              <a:srgbClr val="2C7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88720" y="298094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7B-Instruct-AWQ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429000" y="298094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87.138점 기준선 달성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32688" y="3538728"/>
            <a:ext cx="118872" cy="118872"/>
          </a:xfrm>
          <a:prstGeom prst="ellipse">
            <a:avLst/>
          </a:prstGeom>
          <a:solidFill>
            <a:srgbClr val="62748C"/>
          </a:solidFill>
          <a:ln cap="flat" cmpd="sng" w="9525">
            <a:solidFill>
              <a:srgbClr val="627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188720" y="343814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7B + BitsAndBytes nf4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429000" y="343814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품질 동등, 속도는 열위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14400" y="3877056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규정상 패키지 설치 후 런타임 재시작이 금지 → 설치 직후 같은 세션에서 바로 import 되는 조합만 후보. bitsandbytes 는 --no-deps 없이 설치하면 pip가 torch를 갈아끼워 재시작이 강제된다.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629400" y="1517904"/>
            <a:ext cx="4892040" cy="2926080"/>
          </a:xfrm>
          <a:prstGeom prst="roundRect">
            <a:avLst>
              <a:gd fmla="val 2813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903720" y="166420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T4 제약이 선택지를 결정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903720" y="2121408"/>
            <a:ext cx="434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16GB · fp16만 지원 (Turing이라 bf16 없음)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FlashAttention-2 불가 → sdpa 고정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device_map="auto"는 CPU 오프로드 위험 → cuda:0 고정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do_sample=False — 실험 비교·측정 재현성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903720" y="3877056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한국어 파인튜닝 모델(SKT A.X 4.0)도 검토했으나 3B 버전이 없고 7B는 T4에 안 올라감. 규정 계열 포함 여부도 불확실해 원본 Instruct + 프롬프트 설계로 대응.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4645152"/>
            <a:ext cx="10881360" cy="1600200"/>
          </a:xfrm>
          <a:prstGeom prst="roundRect">
            <a:avLst>
              <a:gd fmla="val 5143" name="adj"/>
            </a:avLst>
          </a:prstGeom>
          <a:solidFill>
            <a:srgbClr val="FDF1E8"/>
          </a:solidFill>
          <a:ln cap="flat" cmpd="sng" w="9525">
            <a:solidFill>
              <a:srgbClr val="FDF1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932688" y="480060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언어 lock 해제 — 프롬프트로 두 번 실패, 디코딩 제약으로 해결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932688" y="5193792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규칙이 7개까지 늘어나자 P10에서 중국어가 출력됨. "한국어로만"을 프롬프트 맨 앞으로 옮겨도 재발.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32688" y="5522976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→ bad_words_ids 로 CJK 통합한자(U+4E00–U+9FFF) 토큰을 생성 후보에서 제거. 약관 원문에 해당 영역 한자가 없음을 사전 확인(㈜는 이 영역이 아님). 언어·형식 제약은 지시보다 디코딩 단이 구조적으로 확실하다.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06  실험 설계와 근거 · 컨텍스트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검색 단위는 조, 근거 제시 단위는 항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40080" y="1517904"/>
            <a:ext cx="5349240" cy="2148840"/>
          </a:xfrm>
          <a:prstGeom prst="roundRect">
            <a:avLst>
              <a:gd fmla="val 3830" name="adj"/>
            </a:avLst>
          </a:prstGeom>
          <a:solidFill>
            <a:srgbClr val="FBEDEE"/>
          </a:solidFill>
          <a:ln cap="flat" cmpd="sng" w="9525">
            <a:solidFill>
              <a:srgbClr val="FBED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14400" y="166420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B23A48"/>
                </a:solidFill>
                <a:latin typeface="Cambria"/>
                <a:ea typeface="Cambria"/>
                <a:cs typeface="Cambria"/>
                <a:sym typeface="Cambria"/>
              </a:rPr>
              <a:t>진단 — 조 단위 청크가 너무 크다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14400" y="2048256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평균 378토큰 조항을 통째로 넣고 "여기서 답을 찾아라". 컨텍스트 안에 정답 문장이 있는데도 못 집는 실패가 반복됨.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914400" y="2606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P10 — ①항 결론절이 1·2·3호 열거에 묻힘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P02 — 복구 노력 문장이 옆에 있는데 미인용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P07 — ㈜카카오모빌리티가 긴 문단 안에 묻힘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172200" y="1517904"/>
            <a:ext cx="5349240" cy="2148840"/>
          </a:xfrm>
          <a:prstGeom prst="roundRect">
            <a:avLst>
              <a:gd fmla="val 3830" name="adj"/>
            </a:avLst>
          </a:prstGeom>
          <a:solidFill>
            <a:srgbClr val="EAF3EE"/>
          </a:solidFill>
          <a:ln cap="flat" cmpd="sng" w="9525">
            <a:solidFill>
              <a:srgbClr val="EAF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446520" y="166420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C7A5B"/>
                </a:solidFill>
                <a:latin typeface="Cambria"/>
                <a:ea typeface="Cambria"/>
                <a:cs typeface="Cambria"/>
                <a:sym typeface="Cambria"/>
              </a:rPr>
              <a:t>조치 — 쪼개지 않고 라벨만 붙인다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446520" y="2048256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코퍼스·색인·retrieved 반환은 조 단위 그대로. 프롬프트 컨텍스트를 만드는 순간에만 항 경계를 드러낸다.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46520" y="2633472"/>
            <a:ext cx="480060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5E3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446520" y="263347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6202E"/>
                </a:solidFill>
                <a:latin typeface="Courier New"/>
                <a:ea typeface="Courier New"/>
                <a:cs typeface="Courier New"/>
                <a:sym typeface="Courier New"/>
              </a:rPr>
              <a:t>[제12조 제①항]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46520" y="3163824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통합 약관은 숫자가 항, 나머지 3종은 ①이 항·숫자가 호. 항 표기가 없는 조는 라벨 없이 유지 — 없는 구조를 지어내지 않는다. 전 72조항 본문 손실 0 확인.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0080" y="3886200"/>
            <a:ext cx="10881360" cy="960120"/>
          </a:xfrm>
          <a:prstGeom prst="roundRect">
            <a:avLst>
              <a:gd fmla="val 8571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932688" y="402336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부수 효과  </a:t>
            </a:r>
            <a:r>
              <a:rPr b="0" i="0" lang="en-US" sz="13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모델이 시키지 않아도 조항 번호를 인용하기 시작 — P09: "제10조 제2항에 따르면 …". 채점의 grounding 항목에 그대로 유리하게 작용.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fmla="val 8182" name="adj"/>
            </a:avLst>
          </a:prstGeom>
          <a:solidFill>
            <a:srgbClr val="16202E"/>
          </a:solidFill>
          <a:ln cap="flat" cmpd="sng" w="9525">
            <a:solidFill>
              <a:srgbClr val="1620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60120" y="5230368"/>
            <a:ext cx="10241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초기에 "항 단위로 쪼개면 슬롯 누락이 생긴다"는 이유로 조 단위를 택했는데, 쪼개지 않고 라벨만 붙이는 방식이 그 우려 없이 같은 효과를 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07  실패와 한계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중간 지표가 올라도 최종 점수는 내려갈 수 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40080" y="1426464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"모델이 근거 문장을 고르고 → LLM이 다듬는" 2단계 구성을 시도했다가 폐기한 사례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40080" y="1847088"/>
            <a:ext cx="3383280" cy="1828800"/>
          </a:xfrm>
          <a:prstGeom prst="roundRect">
            <a:avLst>
              <a:gd fmla="val 4500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96112" y="199339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키팩트 재현율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96112" y="23317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74.7%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121408" y="23317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2468880" y="2331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2C7A5B"/>
                </a:solidFill>
                <a:latin typeface="Cambria"/>
                <a:ea typeface="Cambria"/>
                <a:cs typeface="Cambria"/>
                <a:sym typeface="Cambria"/>
              </a:rPr>
              <a:t>78.6%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96112" y="278892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9BC"/>
                </a:solidFill>
                <a:latin typeface="Calibri"/>
                <a:ea typeface="Calibri"/>
                <a:cs typeface="Calibri"/>
                <a:sym typeface="Calibri"/>
              </a:rPr>
              <a:t>단일 패스        2단계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96112" y="3127248"/>
            <a:ext cx="1234440" cy="365760"/>
          </a:xfrm>
          <a:prstGeom prst="roundRect">
            <a:avLst>
              <a:gd fmla="val 20000" name="adj"/>
            </a:avLst>
          </a:prstGeom>
          <a:solidFill>
            <a:srgbClr val="EAF3EE"/>
          </a:solidFill>
          <a:ln cap="flat" cmpd="sng" w="9525">
            <a:solidFill>
              <a:srgbClr val="EAF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96112" y="3127248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+3.9%p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297680" y="1847088"/>
            <a:ext cx="3383280" cy="1828800"/>
          </a:xfrm>
          <a:prstGeom prst="roundRect">
            <a:avLst>
              <a:gd fmla="val 4500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553712" y="199339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LLM 판정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553712" y="23317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94.45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779008" y="23317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126480" y="2331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B23A48"/>
                </a:solidFill>
                <a:latin typeface="Cambria"/>
                <a:ea typeface="Cambria"/>
                <a:cs typeface="Cambria"/>
                <a:sym typeface="Cambria"/>
              </a:rPr>
              <a:t>93.15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53712" y="278892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9BC"/>
                </a:solidFill>
                <a:latin typeface="Calibri"/>
                <a:ea typeface="Calibri"/>
                <a:cs typeface="Calibri"/>
                <a:sym typeface="Calibri"/>
              </a:rPr>
              <a:t>단일 패스        2단계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553712" y="3127248"/>
            <a:ext cx="1234440" cy="365760"/>
          </a:xfrm>
          <a:prstGeom prst="roundRect">
            <a:avLst>
              <a:gd fmla="val 20000" name="adj"/>
            </a:avLst>
          </a:prstGeom>
          <a:solidFill>
            <a:srgbClr val="FBEDEE"/>
          </a:solidFill>
          <a:ln cap="flat" cmpd="sng" w="9525">
            <a:solidFill>
              <a:srgbClr val="FB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553712" y="3127248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−1.30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955280" y="1847088"/>
            <a:ext cx="3383280" cy="1828800"/>
          </a:xfrm>
          <a:prstGeom prst="roundRect">
            <a:avLst>
              <a:gd fmla="val 4500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211312" y="199339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p50 지연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211312" y="23317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8.19s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436608" y="23317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784080" y="2331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B23A48"/>
                </a:solidFill>
                <a:latin typeface="Cambria"/>
                <a:ea typeface="Cambria"/>
                <a:cs typeface="Cambria"/>
                <a:sym typeface="Cambria"/>
              </a:rPr>
              <a:t>11.44s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8211312" y="278892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9B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9BC"/>
                </a:solidFill>
                <a:latin typeface="Calibri"/>
                <a:ea typeface="Calibri"/>
                <a:cs typeface="Calibri"/>
                <a:sym typeface="Calibri"/>
              </a:rPr>
              <a:t>단일 패스        2단계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8211312" y="3127248"/>
            <a:ext cx="1234440" cy="365760"/>
          </a:xfrm>
          <a:prstGeom prst="roundRect">
            <a:avLst>
              <a:gd fmla="val 20000" name="adj"/>
            </a:avLst>
          </a:prstGeom>
          <a:solidFill>
            <a:srgbClr val="FBEDEE"/>
          </a:solidFill>
          <a:ln cap="flat" cmpd="sng" w="9525">
            <a:solidFill>
              <a:srgbClr val="FBE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211312" y="3127248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23A48"/>
                </a:solidFill>
                <a:latin typeface="Calibri"/>
                <a:ea typeface="Calibri"/>
                <a:cs typeface="Calibri"/>
                <a:sym typeface="Calibri"/>
              </a:rPr>
              <a:t>+40%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40080" y="3931920"/>
            <a:ext cx="5349240" cy="2148840"/>
          </a:xfrm>
          <a:prstGeom prst="roundRect">
            <a:avLst>
              <a:gd fmla="val 3830" name="adj"/>
            </a:avLst>
          </a:prstGeom>
          <a:solidFill>
            <a:srgbClr val="FBEDEE"/>
          </a:solidFill>
          <a:ln cap="flat" cmpd="sng" w="9525">
            <a:solidFill>
              <a:srgbClr val="FBED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14400" y="4078224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B23A48"/>
                </a:solidFill>
                <a:latin typeface="Cambria"/>
                <a:ea typeface="Cambria"/>
                <a:cs typeface="Cambria"/>
                <a:sym typeface="Cambria"/>
              </a:rPr>
              <a:t>무엇이 깨졌나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14400" y="4462272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P08  86.5 → 70  트랩 문항 결론 뒤집힘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P03  100 → 94  「(추가 항목 없음)」을 지어냄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P07  100 → 94  고유명사 유실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434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P06·P09·P10은 반대로 상승 — 이득이 상쇄됨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172200" y="3931920"/>
            <a:ext cx="5349240" cy="2148840"/>
          </a:xfrm>
          <a:prstGeom prst="roundRect">
            <a:avLst>
              <a:gd fmla="val 3830" name="adj"/>
            </a:avLst>
          </a:prstGeom>
          <a:solidFill>
            <a:srgbClr val="16202E"/>
          </a:solidFill>
          <a:ln cap="flat" cmpd="sng" w="9525">
            <a:solidFill>
              <a:srgbClr val="1620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446520" y="4078224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여기서 바꾼 판단 기준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46520" y="448056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FB3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3CC"/>
                </a:solidFill>
                <a:latin typeface="Calibri"/>
                <a:ea typeface="Calibri"/>
                <a:cs typeface="Calibri"/>
                <a:sym typeface="Calibri"/>
              </a:rPr>
              <a:t>재작성 단계가 원문에 없는 내용을 지어내고 트랩 문항의 결론을 뒤집었다. 키팩트 재현율만 보고 채택했다면 최종 점수를 잃었을 변경이다.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46520" y="534924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이후 모든 개선은 중간 지표(KF 재현율)와 최종 지표(LLM 판정)를 함께 확인한 뒤에만 채택.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8  실험 결과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검색은 만점, 병목은 키팩트 F1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40080" y="1536192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96112" y="17373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C7A5B"/>
                </a:solidFill>
                <a:latin typeface="Cambria"/>
                <a:ea typeface="Cambria"/>
                <a:cs typeface="Cambria"/>
                <a:sym typeface="Cambria"/>
              </a:rPr>
              <a:t>20.000</a:t>
            </a:r>
            <a:r>
              <a:rPr b="0" i="0" lang="en-US" sz="1400" u="none" cap="none" strike="noStrike">
                <a:solidFill>
                  <a:srgbClr val="9AA9BC"/>
                </a:solidFill>
                <a:latin typeface="Calibri"/>
                <a:ea typeface="Calibri"/>
                <a:cs typeface="Calibri"/>
                <a:sym typeface="Calibri"/>
              </a:rPr>
              <a:t>  / 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96112" y="233172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검색 MRR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96112" y="2670048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1.0000 · 전 문항 1위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297680" y="1536192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53712" y="17373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3A4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B23A48"/>
                </a:solidFill>
                <a:latin typeface="Cambria"/>
                <a:ea typeface="Cambria"/>
                <a:cs typeface="Cambria"/>
                <a:sym typeface="Cambria"/>
              </a:rPr>
              <a:t>19.913</a:t>
            </a:r>
            <a:r>
              <a:rPr b="0" i="0" lang="en-US" sz="1400" u="none" cap="none" strike="noStrike">
                <a:solidFill>
                  <a:srgbClr val="9AA9BC"/>
                </a:solidFill>
                <a:latin typeface="Calibri"/>
                <a:ea typeface="Calibri"/>
                <a:cs typeface="Calibri"/>
                <a:sym typeface="Calibri"/>
              </a:rPr>
              <a:t>  / 30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53712" y="233172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키팩트 F1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53712" y="2670048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0.6638 — 유일한 병목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955280" y="1536192"/>
            <a:ext cx="3383280" cy="1874520"/>
          </a:xfrm>
          <a:prstGeom prst="roundRect">
            <a:avLst>
              <a:gd fmla="val 4390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211312" y="17373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344B"/>
                </a:solidFill>
                <a:latin typeface="Cambria"/>
                <a:ea typeface="Cambria"/>
                <a:cs typeface="Cambria"/>
                <a:sym typeface="Cambria"/>
              </a:rPr>
              <a:t>47.225</a:t>
            </a:r>
            <a:r>
              <a:rPr b="0" i="0" lang="en-US" sz="1400" u="none" cap="none" strike="noStrike">
                <a:solidFill>
                  <a:srgbClr val="9AA9BC"/>
                </a:solidFill>
                <a:latin typeface="Calibri"/>
                <a:ea typeface="Calibri"/>
                <a:cs typeface="Calibri"/>
                <a:sym typeface="Calibri"/>
              </a:rPr>
              <a:t>  / 50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211312" y="233172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LLM 판정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211312" y="2670048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94.450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40080" y="3639312"/>
            <a:ext cx="5349240" cy="2441448"/>
          </a:xfrm>
          <a:prstGeom prst="roundRect">
            <a:avLst>
              <a:gd fmla="val 3371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914400" y="3785616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자체 30문항이 드러낸 약점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114800"/>
            <a:ext cx="48920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6172200" y="3639312"/>
            <a:ext cx="5349240" cy="2441448"/>
          </a:xfrm>
          <a:prstGeom prst="roundRect">
            <a:avLst>
              <a:gd fmla="val 3371" name="adj"/>
            </a:avLst>
          </a:prstGeom>
          <a:solidFill>
            <a:srgbClr val="16202E"/>
          </a:solidFill>
          <a:ln cap="flat" cmpd="sng" w="9525">
            <a:solidFill>
              <a:srgbClr val="1620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446520" y="3785616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채점 코멘트가 한 축으로 수렴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46520" y="4114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P02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022592" y="41148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ED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FCEDF"/>
                </a:solidFill>
                <a:latin typeface="Calibri"/>
                <a:ea typeface="Calibri"/>
                <a:cs typeface="Calibri"/>
                <a:sym typeface="Calibri"/>
              </a:rPr>
              <a:t>상황 파악 즉시 복구 노력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446520" y="44805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P08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022592" y="44805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ED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FCEDF"/>
                </a:solidFill>
                <a:latin typeface="Calibri"/>
                <a:ea typeface="Calibri"/>
                <a:cs typeface="Calibri"/>
                <a:sym typeface="Calibri"/>
              </a:rPr>
              <a:t>약관 미규정 사항의 세부지침 적용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446520" y="48463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P09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022592" y="48463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ED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FCEDF"/>
                </a:solidFill>
                <a:latin typeface="Calibri"/>
                <a:ea typeface="Calibri"/>
                <a:cs typeface="Calibri"/>
                <a:sym typeface="Calibri"/>
              </a:rPr>
              <a:t>라이선스가 전 세계적·영구적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446520" y="5212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P10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7022592" y="52120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CED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FCEDF"/>
                </a:solidFill>
                <a:latin typeface="Calibri"/>
                <a:ea typeface="Calibri"/>
                <a:cs typeface="Calibri"/>
                <a:sym typeface="Calibri"/>
              </a:rPr>
              <a:t>"본인의 동의가 있는 것으로 봅니다"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446520" y="555955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4B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FA4BF"/>
                </a:solidFill>
                <a:latin typeface="Calibri"/>
                <a:ea typeface="Calibri"/>
                <a:cs typeface="Calibri"/>
                <a:sym typeface="Calibri"/>
              </a:rPr>
              <a:t>grounding·정확성·명료성은 만점 근처. 감점은 전부 completeness — "질문이 직접 묻지 않았지만 같은 조항에 있는 문장"의 누락.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9  평가 체계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점수를 올리기 전에, 잴 </a:t>
            </a:r>
            <a:r>
              <a:rPr b="1" lang="en-US" sz="3000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기준</a:t>
            </a: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부터 만들었다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55318" y="2055779"/>
            <a:ext cx="5349300" cy="1664100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929638" y="2202083"/>
            <a:ext cx="4800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공식 채점식을 </a:t>
            </a:r>
            <a:r>
              <a:rPr b="1" lang="en-US" sz="1500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활용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929638" y="2558699"/>
            <a:ext cx="480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otal = MRR×</a:t>
            </a:r>
            <a:r>
              <a:rPr lang="en-US" sz="1150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150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근거정밀도×15 + </a:t>
            </a: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키팩트F1×30 + </a:t>
            </a:r>
            <a:r>
              <a:rPr lang="en-US" sz="1150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LLM judge×40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87438" y="2055779"/>
            <a:ext cx="5349300" cy="1664100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461758" y="2202083"/>
            <a:ext cx="4800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키팩트 토큰 규칙을 데이터로 보정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61758" y="2558699"/>
            <a:ext cx="480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토큰화 조합을 전수 비교해 오차가 가장 작은 규칙 채택. 조사·어미를 떼는 쪽이 오히려 오차가 컸다.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461758" y="3226211"/>
            <a:ext cx="480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검산  평균편차 −0.003 · MAE 0.022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55318" y="3930299"/>
            <a:ext cx="5349300" cy="1664100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929638" y="4076603"/>
            <a:ext cx="4800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지표를 네 층으로 분리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929638" y="4433219"/>
            <a:ext cx="480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L0 게이트(계약 위반·타임아웃)는 통과/실패로만 다루고 평균에 섞지 않는다. L1 근거 · L2 답변 · L3 속도.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929638" y="5100731"/>
            <a:ext cx="480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원칙  게이트가 깨진 실험은 무효 처리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6187438" y="3930299"/>
            <a:ext cx="5349300" cy="1664100"/>
          </a:xfrm>
          <a:prstGeom prst="roundRect">
            <a:avLst>
              <a:gd fmla="val 4945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6461758" y="4076603"/>
            <a:ext cx="4800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실행마다 자동 기록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461758" y="4433219"/>
            <a:ext cx="480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설정·문항별 점수·지연을 JSON으로 남기고 비교표를 갱신. 실패한 실험도 지우지 않는다.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461758" y="5100731"/>
            <a:ext cx="480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C7A5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7A5B"/>
                </a:solidFill>
                <a:latin typeface="Calibri"/>
                <a:ea typeface="Calibri"/>
                <a:cs typeface="Calibri"/>
                <a:sym typeface="Calibri"/>
              </a:rPr>
              <a:t>기록  실험 8회 · 문항별 전량 보존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10  일반화 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자체 평가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40080" y="1517904"/>
            <a:ext cx="10881360" cy="1024128"/>
          </a:xfrm>
          <a:prstGeom prst="roundRect">
            <a:avLst>
              <a:gd fmla="val 8036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914400" y="1627632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공개 문항은 이미 포화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297680" y="1627632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공개 10문항 검색 MRR이 1.0에 도달한 뒤로는 어떤 변경도 검색 점수가 그대로다. 개선인지 아닌지 판단할 근거가 사라진다.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549640" y="1627632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대응  공개 골드셋이 쓰지 않은 조로 30문항 추가 작성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40080" y="2670048"/>
            <a:ext cx="10881360" cy="1024128"/>
          </a:xfrm>
          <a:prstGeom prst="roundRect">
            <a:avLst>
              <a:gd fmla="val 8036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914400" y="2779776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문항을 지어내지 않는다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297680" y="2779776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핵심 내용을 약관 원문에서 그대로 인용하고, 4-gram 대조로 전 항목이 해당 조 본문에 실재하는지 검증한 뒤 사용.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8549640" y="2779776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구성  basic 14 · trap 8 · exact 8 · 4개 문서 균등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40080" y="3822192"/>
            <a:ext cx="10881360" cy="1024128"/>
          </a:xfrm>
          <a:prstGeom prst="roundRect">
            <a:avLst>
              <a:gd fmla="val 8036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914400" y="3931920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채택 규칙을 미리 정했다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297680" y="3931920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두 셋에서 동시에 오르는 변경만 채택하고, 한쪽만 오르면 기각. 문항별 암기와 실제 개선을 가르는 유일한 장치.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549640" y="3931920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효과  프롬프트 후보 하나를 이 규칙으로 기각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40080" y="4974336"/>
            <a:ext cx="10881360" cy="1024128"/>
          </a:xfrm>
          <a:prstGeom prst="roundRect">
            <a:avLst>
              <a:gd fmla="val 8036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914400" y="5084064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실제로 걸러낸 사례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297680" y="5084064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2748C"/>
                </a:solidFill>
                <a:latin typeface="Calibri"/>
                <a:ea typeface="Calibri"/>
                <a:cs typeface="Calibri"/>
                <a:sym typeface="Calibri"/>
              </a:rPr>
              <a:t>"근거 문장을 통째로 옮겨라" 프롬프트는 확장셋에서 +0.4점이었지만 공개셋에서 −2.9점이었다. 한쪽만 봤다면 채택했을 변경.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549640" y="5084064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판단  기각 후 직전 설정으로 복귀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6E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6E30"/>
                </a:solidFill>
                <a:latin typeface="Calibri"/>
                <a:ea typeface="Calibri"/>
                <a:cs typeface="Calibri"/>
                <a:sym typeface="Calibri"/>
              </a:rPr>
              <a:t>11  팀별 평가기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640080" y="658368"/>
            <a:ext cx="10881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평가기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640080" y="1713011"/>
            <a:ext cx="10881300" cy="804600"/>
          </a:xfrm>
          <a:prstGeom prst="roundRect">
            <a:avLst>
              <a:gd fmla="val 10227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877824" y="1959899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77824" y="1959899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353312" y="1767875"/>
            <a:ext cx="1691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점수 구성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3108960" y="1767875"/>
            <a:ext cx="3977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MRR 15 + 근거정밀도 15 + 키팩트 F1 30 + </a:t>
            </a:r>
            <a:r>
              <a:rPr b="1" lang="en-US" sz="1250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 judge 40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7178040" y="1767875"/>
            <a:ext cx="4023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2748C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40080" y="2654843"/>
            <a:ext cx="10881300" cy="804600"/>
          </a:xfrm>
          <a:prstGeom prst="roundRect">
            <a:avLst>
              <a:gd fmla="val 10227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877824" y="2901731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877824" y="2901731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353312" y="2709707"/>
            <a:ext cx="1691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MRR 축소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3108960" y="2709707"/>
            <a:ext cx="3977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20점 </a:t>
            </a:r>
            <a:r>
              <a:rPr b="1" lang="en-US" sz="1250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 15점 ·</a:t>
            </a:r>
            <a:r>
              <a:rPr b="1" lang="en-US" sz="1250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 거의 </a:t>
            </a: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모두 만점이라 변별 </a:t>
            </a:r>
            <a:r>
              <a:rPr b="1" lang="en-US" sz="1250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40080" y="3596675"/>
            <a:ext cx="10881300" cy="804600"/>
          </a:xfrm>
          <a:prstGeom prst="roundRect">
            <a:avLst>
              <a:gd fmla="val 10227" name="adj"/>
            </a:avLst>
          </a:prstGeom>
          <a:solidFill>
            <a:srgbClr val="F7F9FB"/>
          </a:solidFill>
          <a:ln cap="flat" cmpd="sng" w="9525">
            <a:solidFill>
              <a:srgbClr val="F7F9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77824" y="3843563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24344B"/>
          </a:solidFill>
          <a:ln cap="flat" cmpd="sng" w="9525">
            <a:solidFill>
              <a:srgbClr val="2434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877824" y="3843563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1353312" y="3651539"/>
            <a:ext cx="1691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근거 정밀도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108960" y="3651539"/>
            <a:ext cx="3977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15점 · </a:t>
            </a:r>
            <a:r>
              <a:rPr b="1" lang="en-US" sz="1250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찾은</a:t>
            </a: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 근거 중 정답 비율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40080" y="4538507"/>
            <a:ext cx="10881300" cy="804600"/>
          </a:xfrm>
          <a:prstGeom prst="roundRect">
            <a:avLst>
              <a:gd fmla="val 10227" name="adj"/>
            </a:avLst>
          </a:prstGeom>
          <a:solidFill>
            <a:srgbClr val="F0F3F7"/>
          </a:solidFill>
          <a:ln cap="flat" cmpd="sng" w="9525">
            <a:solidFill>
              <a:srgbClr val="F0F3F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8A99AD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77824" y="4785395"/>
            <a:ext cx="310800" cy="310800"/>
          </a:xfrm>
          <a:prstGeom prst="roundRect">
            <a:avLst>
              <a:gd fmla="val 23529" name="adj"/>
            </a:avLst>
          </a:prstGeom>
          <a:solidFill>
            <a:srgbClr val="DB6E30"/>
          </a:solidFill>
          <a:ln cap="flat" cmpd="sng" w="9525">
            <a:solidFill>
              <a:srgbClr val="DB6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877824" y="4785395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1353312" y="4593371"/>
            <a:ext cx="1691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6202E"/>
                </a:solidFill>
                <a:latin typeface="Cambria"/>
                <a:ea typeface="Cambria"/>
                <a:cs typeface="Cambria"/>
                <a:sym typeface="Cambria"/>
              </a:rPr>
              <a:t>LLM judge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3108960" y="4593371"/>
            <a:ext cx="3977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34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40점 · </a:t>
            </a:r>
            <a:r>
              <a:rPr b="1" lang="en-US" sz="1250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비율 -&gt; </a:t>
            </a:r>
            <a:r>
              <a:rPr b="1" i="0" lang="en-US" sz="1250" u="none" cap="none" strike="noStrike">
                <a:solidFill>
                  <a:srgbClr val="24344B"/>
                </a:solidFill>
                <a:latin typeface="Calibri"/>
                <a:ea typeface="Calibri"/>
                <a:cs typeface="Calibri"/>
                <a:sym typeface="Calibri"/>
              </a:rPr>
              <a:t>정확성 40, 근거성 25, 완결성 20, 명료성 15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E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/>
          <p:nvPr/>
        </p:nvSpPr>
        <p:spPr>
          <a:xfrm>
            <a:off x="655318" y="2838167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감사합니다</a:t>
            </a:r>
            <a:endParaRPr b="1" sz="3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78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2778F"/>
                </a:solidFill>
                <a:latin typeface="Calibri"/>
                <a:ea typeface="Calibri"/>
                <a:cs typeface="Calibri"/>
                <a:sym typeface="Calibri"/>
              </a:rPr>
              <a:t>13팀 · 카카오 약관 QA 결과기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